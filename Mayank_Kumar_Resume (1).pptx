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F2F2F2"/>
          </a:solidFill>
          <a:ln/>
        </p:spPr>
      </p:sp>
      <p:sp>
        <p:nvSpPr>
          <p:cNvPr id="3" name="Text 1"/>
          <p:cNvSpPr/>
          <p:nvPr/>
        </p:nvSpPr>
        <p:spPr>
          <a:xfrm>
            <a:off x="320040" y="109728"/>
            <a:ext cx="5486400" cy="548640"/>
          </a:xfrm>
          <a:prstGeom prst="rect">
            <a:avLst/>
          </a:prstGeom>
          <a:noFill/>
          <a:ln/>
        </p:spPr>
        <p:txBody>
          <a:bodyPr wrap="square" lIns="0" tIns="0" rIns="0" bIns="0" rtlCol="0" anchor="ctr"/>
          <a:lstStyle/>
          <a:p>
            <a:pPr indent="0" marL="0">
              <a:buNone/>
            </a:pPr>
            <a:r>
              <a:rPr lang="en-US" sz="2800" b="1" dirty="0">
                <a:solidFill>
                  <a:srgbClr val="8C1F28"/>
                </a:solidFill>
                <a:latin typeface="Cambria" pitchFamily="34" charset="0"/>
                <a:ea typeface="Cambria" pitchFamily="34" charset="-122"/>
                <a:cs typeface="Cambria" pitchFamily="34" charset="-120"/>
              </a:rPr>
              <a:t>Mayank Kumar</a:t>
            </a:r>
            <a:endParaRPr lang="en-US" sz="2800" dirty="0"/>
          </a:p>
        </p:txBody>
      </p:sp>
      <p:sp>
        <p:nvSpPr>
          <p:cNvPr id="4" name="Text 2"/>
          <p:cNvSpPr/>
          <p:nvPr/>
        </p:nvSpPr>
        <p:spPr>
          <a:xfrm>
            <a:off x="2788920" y="164592"/>
            <a:ext cx="3657600" cy="457200"/>
          </a:xfrm>
          <a:prstGeom prst="rect">
            <a:avLst/>
          </a:prstGeom>
          <a:noFill/>
          <a:ln/>
        </p:spPr>
        <p:txBody>
          <a:bodyPr wrap="square" lIns="0" tIns="0" rIns="0" bIns="0" rtlCol="0" anchor="ctr"/>
          <a:lstStyle/>
          <a:p>
            <a:pPr indent="0" marL="0">
              <a:buNone/>
            </a:pPr>
            <a:r>
              <a:rPr lang="en-US" sz="1800" dirty="0">
                <a:solidFill>
                  <a:srgbClr val="262626"/>
                </a:solidFill>
                <a:latin typeface="Calibri" pitchFamily="34" charset="0"/>
                <a:ea typeface="Calibri" pitchFamily="34" charset="-122"/>
                <a:cs typeface="Calibri" pitchFamily="34" charset="-120"/>
              </a:rPr>
              <a:t>Consultant 1</a:t>
            </a:r>
            <a:endParaRPr lang="en-US" sz="1800" dirty="0"/>
          </a:p>
        </p:txBody>
      </p:sp>
      <p:sp>
        <p:nvSpPr>
          <p:cNvPr id="5" name="Shape 3"/>
          <p:cNvSpPr/>
          <p:nvPr/>
        </p:nvSpPr>
        <p:spPr>
          <a:xfrm>
            <a:off x="0" y="777240"/>
            <a:ext cx="1920240" cy="6080760"/>
          </a:xfrm>
          <a:prstGeom prst="rect">
            <a:avLst/>
          </a:prstGeom>
          <a:solidFill>
            <a:srgbClr val="595959"/>
          </a:solidFill>
          <a:ln/>
        </p:spPr>
      </p:sp>
      <p:pic>
        <p:nvPicPr>
          <p:cNvPr id="6" name="Image 0" descr="preencoded.png">    </p:cNvPr>
          <p:cNvPicPr>
            <a:picLocks noChangeAspect="1"/>
          </p:cNvPicPr>
          <p:nvPr/>
        </p:nvPicPr>
        <p:blipFill>
          <a:blip r:embed="rId1"/>
          <a:stretch>
            <a:fillRect/>
          </a:stretch>
        </p:blipFill>
        <p:spPr>
          <a:xfrm>
            <a:off x="274320" y="1051560"/>
            <a:ext cx="365760" cy="365760"/>
          </a:xfrm>
          <a:prstGeom prst="rect">
            <a:avLst/>
          </a:prstGeom>
        </p:spPr>
      </p:pic>
      <p:sp>
        <p:nvSpPr>
          <p:cNvPr id="7" name="Text 4"/>
          <p:cNvSpPr/>
          <p:nvPr/>
        </p:nvSpPr>
        <p:spPr>
          <a:xfrm>
            <a:off x="228600" y="1463040"/>
            <a:ext cx="14630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Summary</a:t>
            </a:r>
            <a:endParaRPr lang="en-US" sz="1200" dirty="0"/>
          </a:p>
        </p:txBody>
      </p:sp>
      <p:pic>
        <p:nvPicPr>
          <p:cNvPr id="8" name="Image 1" descr="preencoded.png">    </p:cNvPr>
          <p:cNvPicPr>
            <a:picLocks noChangeAspect="1"/>
          </p:cNvPicPr>
          <p:nvPr/>
        </p:nvPicPr>
        <p:blipFill>
          <a:blip r:embed="rId2"/>
          <a:stretch>
            <a:fillRect/>
          </a:stretch>
        </p:blipFill>
        <p:spPr>
          <a:xfrm>
            <a:off x="274320" y="2651760"/>
            <a:ext cx="365760" cy="365760"/>
          </a:xfrm>
          <a:prstGeom prst="rect">
            <a:avLst/>
          </a:prstGeom>
        </p:spPr>
      </p:pic>
      <p:sp>
        <p:nvSpPr>
          <p:cNvPr id="9" name="Text 5"/>
          <p:cNvSpPr/>
          <p:nvPr/>
        </p:nvSpPr>
        <p:spPr>
          <a:xfrm>
            <a:off x="137160" y="3063240"/>
            <a:ext cx="164592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Key Projects</a:t>
            </a:r>
            <a:endParaRPr lang="en-US" sz="1200" dirty="0"/>
          </a:p>
        </p:txBody>
      </p:sp>
      <p:pic>
        <p:nvPicPr>
          <p:cNvPr id="10" name="Image 2" descr="preencoded.png">    </p:cNvPr>
          <p:cNvPicPr>
            <a:picLocks noChangeAspect="1"/>
          </p:cNvPicPr>
          <p:nvPr/>
        </p:nvPicPr>
        <p:blipFill>
          <a:blip r:embed="rId3"/>
          <a:stretch>
            <a:fillRect/>
          </a:stretch>
        </p:blipFill>
        <p:spPr>
          <a:xfrm>
            <a:off x="274320" y="5989320"/>
            <a:ext cx="320040" cy="320040"/>
          </a:xfrm>
          <a:prstGeom prst="rect">
            <a:avLst/>
          </a:prstGeom>
        </p:spPr>
      </p:pic>
      <p:sp>
        <p:nvSpPr>
          <p:cNvPr id="11" name="Text 6"/>
          <p:cNvSpPr/>
          <p:nvPr/>
        </p:nvSpPr>
        <p:spPr>
          <a:xfrm>
            <a:off x="91440" y="6355080"/>
            <a:ext cx="1737360" cy="457200"/>
          </a:xfrm>
          <a:prstGeom prst="rect">
            <a:avLst/>
          </a:prstGeom>
          <a:noFill/>
          <a:ln/>
        </p:spPr>
        <p:txBody>
          <a:bodyPr wrap="square" lIns="0" tIns="0" rIns="0" bIns="0" rtlCol="0" anchor="t"/>
          <a:lstStyle/>
          <a:p>
            <a:pPr algn="ctr" indent="0" marL="0">
              <a:buNone/>
            </a:pPr>
            <a:r>
              <a:rPr lang="en-US" sz="1050" b="1" dirty="0">
                <a:solidFill>
                  <a:srgbClr val="FFFFFF"/>
                </a:solidFill>
                <a:latin typeface="Calibri" pitchFamily="34" charset="0"/>
                <a:ea typeface="Calibri" pitchFamily="34" charset="-122"/>
                <a:cs typeface="Calibri" pitchFamily="34" charset="-120"/>
              </a:rPr>
              <a:t>Education &amp;</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Technical Skills</a:t>
            </a:r>
            <a:endParaRPr lang="en-US" sz="1050" dirty="0"/>
          </a:p>
        </p:txBody>
      </p:sp>
      <p:sp>
        <p:nvSpPr>
          <p:cNvPr id="12" name="Text 7"/>
          <p:cNvSpPr/>
          <p:nvPr/>
        </p:nvSpPr>
        <p:spPr>
          <a:xfrm>
            <a:off x="2148840" y="896112"/>
            <a:ext cx="9692640" cy="411480"/>
          </a:xfrm>
          <a:prstGeom prst="rect">
            <a:avLst/>
          </a:prstGeom>
          <a:noFill/>
          <a:ln/>
        </p:spPr>
        <p:txBody>
          <a:bodyPr wrap="square" lIns="0" tIns="0" rIns="0" bIns="0" rtlCol="0" anchor="ctr"/>
          <a:lstStyle/>
          <a:p>
            <a:pPr indent="0" marL="0">
              <a:buNone/>
            </a:pPr>
            <a:r>
              <a:rPr lang="en-US" sz="1150" dirty="0">
                <a:solidFill>
                  <a:srgbClr val="262626"/>
                </a:solidFill>
                <a:latin typeface="Calibri" pitchFamily="34" charset="0"/>
                <a:ea typeface="Calibri" pitchFamily="34" charset="-122"/>
                <a:cs typeface="Calibri" pitchFamily="34" charset="-120"/>
              </a:rPr>
              <a:t>Analytics professional with 3+ years of experience in domain of analytics - predictive as well as descriptive, data and information management.</a:t>
            </a:r>
            <a:endParaRPr lang="en-US" sz="1150" dirty="0"/>
          </a:p>
        </p:txBody>
      </p:sp>
      <p:sp>
        <p:nvSpPr>
          <p:cNvPr id="13" name="Text 8"/>
          <p:cNvSpPr/>
          <p:nvPr/>
        </p:nvSpPr>
        <p:spPr>
          <a:xfrm>
            <a:off x="2148840" y="1188720"/>
            <a:ext cx="9829800" cy="1234440"/>
          </a:xfrm>
          <a:prstGeom prst="rect">
            <a:avLst/>
          </a:prstGeom>
          <a:noFill/>
          <a:ln/>
        </p:spPr>
        <p:txBody>
          <a:bodyPr wrap="square" lIns="0" tIns="0" rIns="0" bIns="0" rtlCol="0" anchor="t"/>
          <a:lstStyle/>
          <a:p>
            <a:pPr indent="0" marL="0">
              <a:lnSpc>
                <a:spcPct val="95000"/>
              </a:lnSpc>
              <a:spcAft>
                <a:spcPts val="200"/>
              </a:spcAft>
              <a:buNone/>
            </a:pPr>
            <a:r>
              <a:rPr lang="en-US" sz="1100" b="1" dirty="0">
                <a:solidFill>
                  <a:srgbClr val="8C1F28"/>
                </a:solidFill>
                <a:latin typeface="Calibri" pitchFamily="34" charset="0"/>
                <a:ea typeface="Calibri" pitchFamily="34" charset="-122"/>
                <a:cs typeface="Calibri" pitchFamily="34" charset="-120"/>
              </a:rPr>
              <a:t>Marketing Analytics - Email Campaign Selection &amp; Model Monitoring (Hartford/AARP Auto)</a:t>
            </a:r>
            <a:endParaRPr lang="en-US" sz="900" dirty="0"/>
          </a:p>
          <a:p>
            <a:pPr indent="0" marL="0">
              <a:lnSpc>
                <a:spcPct val="95000"/>
              </a:lnSpc>
              <a:spcAft>
                <a:spcPts val="200"/>
              </a:spcAft>
              <a:buNone/>
            </a:pPr>
            <a:r>
              <a:rPr lang="en-US" sz="800" b="1" dirty="0">
                <a:solidFill>
                  <a:srgbClr val="262626"/>
                </a:solidFill>
                <a:latin typeface="Calibri" pitchFamily="34" charset="0"/>
                <a:ea typeface="Calibri" pitchFamily="34" charset="-122"/>
                <a:cs typeface="Calibri" pitchFamily="34" charset="-120"/>
              </a:rPr>
              <a:t>Tags: Marketing Analytics, Snowflake, SQL, Python, Model Monitoring, Customer Targeting, Email Selection</a:t>
            </a:r>
            <a:endParaRPr lang="en-US" sz="900" dirty="0"/>
          </a:p>
          <a:p>
            <a:pPr marL="342900" indent="-342900">
              <a:lnSpc>
                <a:spcPct val="95000"/>
              </a:lnSpc>
              <a:spcAft>
                <a:spcPts val="200"/>
              </a:spcAft>
              <a:buSzPct val="100000"/>
              <a:buChar char="•"/>
            </a:pPr>
            <a:r>
              <a:rPr lang="en-US" sz="750" b="1" dirty="0">
                <a:solidFill>
                  <a:srgbClr val="262626"/>
                </a:solidFill>
                <a:latin typeface="Calibri" pitchFamily="34" charset="0"/>
                <a:ea typeface="Calibri" pitchFamily="34" charset="-122"/>
                <a:cs typeface="Calibri" pitchFamily="34" charset="-120"/>
              </a:rPr>
              <a:t>Objective: </a:t>
            </a:r>
            <a:pPr indent="0" marL="0">
              <a:lnSpc>
                <a:spcPct val="95000"/>
              </a:lnSpc>
              <a:spcAft>
                <a:spcPts val="200"/>
              </a:spcAft>
              <a:buNone/>
            </a:pPr>
            <a:r>
              <a:rPr lang="en-US" sz="750" dirty="0">
                <a:solidFill>
                  <a:srgbClr val="262626"/>
                </a:solidFill>
                <a:latin typeface="Calibri" pitchFamily="34" charset="0"/>
                <a:ea typeface="Calibri" pitchFamily="34" charset="-122"/>
                <a:cs typeface="Calibri" pitchFamily="34" charset="-120"/>
              </a:rPr>
              <a:t>To run a monthly end-to-end selection cycle for four AARP Auto insurance campaigns (WinBack, ARQ, MO, GMPQ/AO), identifying the eligible population for marketing outreach.</a:t>
            </a:r>
            <a:endParaRPr lang="en-US" sz="900" dirty="0"/>
          </a:p>
          <a:p>
            <a:pPr marL="342900" indent="-342900">
              <a:lnSpc>
                <a:spcPct val="95000"/>
              </a:lnSpc>
              <a:spcAft>
                <a:spcPts val="200"/>
              </a:spcAft>
              <a:buSzPct val="100000"/>
              <a:buChar char="•"/>
            </a:pPr>
            <a:r>
              <a:rPr lang="en-US" sz="750" b="1" dirty="0">
                <a:solidFill>
                  <a:srgbClr val="262626"/>
                </a:solidFill>
                <a:latin typeface="Calibri" pitchFamily="34" charset="0"/>
                <a:ea typeface="Calibri" pitchFamily="34" charset="-122"/>
                <a:cs typeface="Calibri" pitchFamily="34" charset="-120"/>
              </a:rPr>
              <a:t>Data preparation: </a:t>
            </a:r>
            <a:pPr indent="0" marL="0">
              <a:lnSpc>
                <a:spcPct val="95000"/>
              </a:lnSpc>
              <a:spcAft>
                <a:spcPts val="200"/>
              </a:spcAft>
              <a:buNone/>
            </a:pPr>
            <a:r>
              <a:rPr lang="en-US" sz="750" dirty="0">
                <a:solidFill>
                  <a:srgbClr val="262626"/>
                </a:solidFill>
                <a:latin typeface="Calibri" pitchFamily="34" charset="0"/>
                <a:ea typeface="Calibri" pitchFamily="34" charset="-122"/>
                <a:cs typeface="Calibri" pitchFamily="34" charset="-120"/>
              </a:rPr>
              <a:t>Built Snowflake-based pipelines pulling and merging prospect, policy, and engagement data each monthly cycle across all four campaigns.</a:t>
            </a:r>
            <a:endParaRPr lang="en-US" sz="900" dirty="0"/>
          </a:p>
          <a:p>
            <a:pPr marL="342900" indent="-342900">
              <a:lnSpc>
                <a:spcPct val="95000"/>
              </a:lnSpc>
              <a:spcAft>
                <a:spcPts val="200"/>
              </a:spcAft>
              <a:buSzPct val="100000"/>
              <a:buChar char="•"/>
            </a:pPr>
            <a:r>
              <a:rPr lang="en-US" sz="750" b="1" dirty="0">
                <a:solidFill>
                  <a:srgbClr val="262626"/>
                </a:solidFill>
                <a:latin typeface="Calibri" pitchFamily="34" charset="0"/>
                <a:ea typeface="Calibri" pitchFamily="34" charset="-122"/>
                <a:cs typeface="Calibri" pitchFamily="34" charset="-120"/>
              </a:rPr>
              <a:t>Predictive targeting: </a:t>
            </a:r>
            <a:pPr indent="0" marL="0">
              <a:lnSpc>
                <a:spcPct val="95000"/>
              </a:lnSpc>
              <a:spcAft>
                <a:spcPts val="200"/>
              </a:spcAft>
              <a:buNone/>
            </a:pPr>
            <a:r>
              <a:rPr lang="en-US" sz="750" dirty="0">
                <a:solidFill>
                  <a:srgbClr val="262626"/>
                </a:solidFill>
                <a:latin typeface="Calibri" pitchFamily="34" charset="0"/>
                <a:ea typeface="Calibri" pitchFamily="34" charset="-122"/>
                <a:cs typeface="Calibri" pitchFamily="34" charset="-120"/>
              </a:rPr>
              <a:t>Built a LightGBM model to identify unengaged customers most likely to convert, improving targeting precision over random selection by ~28% (AUC 0.58-0.59).</a:t>
            </a:r>
            <a:endParaRPr lang="en-US" sz="900" dirty="0"/>
          </a:p>
          <a:p>
            <a:pPr marL="342900" indent="-342900">
              <a:lnSpc>
                <a:spcPct val="95000"/>
              </a:lnSpc>
              <a:spcAft>
                <a:spcPts val="200"/>
              </a:spcAft>
              <a:buSzPct val="100000"/>
              <a:buChar char="•"/>
            </a:pPr>
            <a:r>
              <a:rPr lang="en-US" sz="750" b="1" dirty="0">
                <a:solidFill>
                  <a:srgbClr val="262626"/>
                </a:solidFill>
                <a:latin typeface="Calibri" pitchFamily="34" charset="0"/>
                <a:ea typeface="Calibri" pitchFamily="34" charset="-122"/>
                <a:cs typeface="Calibri" pitchFamily="34" charset="-120"/>
              </a:rPr>
              <a:t>Methodology &amp; modelling: </a:t>
            </a:r>
            <a:pPr indent="0" marL="0">
              <a:lnSpc>
                <a:spcPct val="95000"/>
              </a:lnSpc>
              <a:spcAft>
                <a:spcPts val="200"/>
              </a:spcAft>
              <a:buNone/>
            </a:pPr>
            <a:r>
              <a:rPr lang="en-US" sz="750" dirty="0">
                <a:solidFill>
                  <a:srgbClr val="262626"/>
                </a:solidFill>
                <a:latin typeface="Calibri" pitchFamily="34" charset="0"/>
                <a:ea typeface="Calibri" pitchFamily="34" charset="-122"/>
                <a:cs typeface="Calibri" pitchFamily="34" charset="-120"/>
              </a:rPr>
              <a:t>Applied existing scoring models and business rule methodologies with flag-based suppression logic to identify and finalize the eligible population in an auditable, traceable way.</a:t>
            </a:r>
            <a:endParaRPr lang="en-US" sz="900" dirty="0"/>
          </a:p>
          <a:p>
            <a:pPr marL="342900" indent="-342900">
              <a:lnSpc>
                <a:spcPct val="95000"/>
              </a:lnSpc>
              <a:spcAft>
                <a:spcPts val="200"/>
              </a:spcAft>
              <a:buSzPct val="100000"/>
              <a:buChar char="•"/>
            </a:pPr>
            <a:r>
              <a:rPr lang="en-US" sz="750" b="1" dirty="0">
                <a:solidFill>
                  <a:srgbClr val="262626"/>
                </a:solidFill>
                <a:latin typeface="Calibri" pitchFamily="34" charset="0"/>
                <a:ea typeface="Calibri" pitchFamily="34" charset="-122"/>
                <a:cs typeface="Calibri" pitchFamily="34" charset="-120"/>
              </a:rPr>
              <a:t>Model monitoring &amp; delivery: </a:t>
            </a:r>
            <a:pPr indent="0" marL="0">
              <a:lnSpc>
                <a:spcPct val="95000"/>
              </a:lnSpc>
              <a:spcAft>
                <a:spcPts val="200"/>
              </a:spcAft>
              <a:buNone/>
            </a:pPr>
            <a:r>
              <a:rPr lang="en-US" sz="750" dirty="0">
                <a:solidFill>
                  <a:srgbClr val="262626"/>
                </a:solidFill>
                <a:latin typeface="Calibri" pitchFamily="34" charset="0"/>
                <a:ea typeface="Calibri" pitchFamily="34" charset="-122"/>
                <a:cs typeface="Calibri" pitchFamily="34" charset="-120"/>
              </a:rPr>
              <a:t>Tracked production model performance month over month to catch drift, and delivered the final targeting population to the marketing team for customer outreach.</a:t>
            </a:r>
            <a:endParaRPr lang="en-US" sz="900" dirty="0"/>
          </a:p>
        </p:txBody>
      </p:sp>
      <p:sp>
        <p:nvSpPr>
          <p:cNvPr id="14" name="Text 9"/>
          <p:cNvSpPr/>
          <p:nvPr/>
        </p:nvSpPr>
        <p:spPr>
          <a:xfrm>
            <a:off x="2148840" y="2514600"/>
            <a:ext cx="9829800" cy="1097280"/>
          </a:xfrm>
          <a:prstGeom prst="rect">
            <a:avLst/>
          </a:prstGeom>
          <a:noFill/>
          <a:ln/>
        </p:spPr>
        <p:txBody>
          <a:bodyPr wrap="square" lIns="0" tIns="0" rIns="0" bIns="0" rtlCol="0" anchor="t"/>
          <a:lstStyle/>
          <a:p>
            <a:pPr indent="0" marL="0">
              <a:lnSpc>
                <a:spcPct val="95000"/>
              </a:lnSpc>
              <a:spcAft>
                <a:spcPts val="200"/>
              </a:spcAft>
              <a:buNone/>
            </a:pPr>
            <a:r>
              <a:rPr lang="en-US" sz="1100" b="1" dirty="0">
                <a:solidFill>
                  <a:srgbClr val="8C1F28"/>
                </a:solidFill>
                <a:latin typeface="Calibri" pitchFamily="34" charset="0"/>
                <a:ea typeface="Calibri" pitchFamily="34" charset="-122"/>
                <a:cs typeface="Calibri" pitchFamily="34" charset="-120"/>
              </a:rPr>
              <a:t>Fire Insurance Risk Score</a:t>
            </a:r>
            <a:endParaRPr lang="en-US" sz="900" dirty="0"/>
          </a:p>
          <a:p>
            <a:pPr indent="0" marL="0">
              <a:lnSpc>
                <a:spcPct val="95000"/>
              </a:lnSpc>
              <a:spcAft>
                <a:spcPts val="200"/>
              </a:spcAft>
              <a:buNone/>
            </a:pPr>
            <a:r>
              <a:rPr lang="en-US" sz="800" b="1" dirty="0">
                <a:solidFill>
                  <a:srgbClr val="262626"/>
                </a:solidFill>
                <a:latin typeface="Calibri" pitchFamily="34" charset="0"/>
                <a:ea typeface="Calibri" pitchFamily="34" charset="-122"/>
                <a:cs typeface="Calibri" pitchFamily="34" charset="-120"/>
              </a:rPr>
              <a:t>Tags: Research Methodology, Risk Scoring, EDA, Python</a:t>
            </a:r>
            <a:endParaRPr lang="en-US" sz="900" dirty="0"/>
          </a:p>
          <a:p>
            <a:pPr marL="342900" indent="-342900">
              <a:lnSpc>
                <a:spcPct val="95000"/>
              </a:lnSpc>
              <a:spcAft>
                <a:spcPts val="200"/>
              </a:spcAft>
              <a:buSzPct val="100000"/>
              <a:buChar char="•"/>
            </a:pPr>
            <a:r>
              <a:rPr lang="en-US" sz="750" b="1" dirty="0">
                <a:solidFill>
                  <a:srgbClr val="262626"/>
                </a:solidFill>
                <a:latin typeface="Calibri" pitchFamily="34" charset="0"/>
                <a:ea typeface="Calibri" pitchFamily="34" charset="-122"/>
                <a:cs typeface="Calibri" pitchFamily="34" charset="-120"/>
              </a:rPr>
              <a:t>Objective: </a:t>
            </a:r>
            <a:pPr indent="0" marL="0">
              <a:lnSpc>
                <a:spcPct val="95000"/>
              </a:lnSpc>
              <a:spcAft>
                <a:spcPts val="200"/>
              </a:spcAft>
              <a:buNone/>
            </a:pPr>
            <a:r>
              <a:rPr lang="en-US" sz="750" dirty="0">
                <a:solidFill>
                  <a:srgbClr val="262626"/>
                </a:solidFill>
                <a:latin typeface="Calibri" pitchFamily="34" charset="0"/>
                <a:ea typeface="Calibri" pitchFamily="34" charset="-122"/>
                <a:cs typeface="Calibri" pitchFamily="34" charset="-120"/>
              </a:rPr>
              <a:t>To develop a risk scoring model for fire insurance specific to US properties by researching competitors and creating a unique methodology.</a:t>
            </a:r>
            <a:endParaRPr lang="en-US" sz="900" dirty="0"/>
          </a:p>
          <a:p>
            <a:pPr marL="342900" indent="-342900">
              <a:lnSpc>
                <a:spcPct val="95000"/>
              </a:lnSpc>
              <a:spcAft>
                <a:spcPts val="200"/>
              </a:spcAft>
              <a:buSzPct val="100000"/>
              <a:buChar char="•"/>
            </a:pPr>
            <a:r>
              <a:rPr lang="en-US" sz="750" b="1" dirty="0">
                <a:solidFill>
                  <a:srgbClr val="262626"/>
                </a:solidFill>
                <a:latin typeface="Calibri" pitchFamily="34" charset="0"/>
                <a:ea typeface="Calibri" pitchFamily="34" charset="-122"/>
                <a:cs typeface="Calibri" pitchFamily="34" charset="-120"/>
              </a:rPr>
              <a:t>Data preparation: </a:t>
            </a:r>
            <a:pPr indent="0" marL="0">
              <a:lnSpc>
                <a:spcPct val="95000"/>
              </a:lnSpc>
              <a:spcAft>
                <a:spcPts val="200"/>
              </a:spcAft>
              <a:buNone/>
            </a:pPr>
            <a:r>
              <a:rPr lang="en-US" sz="750" dirty="0">
                <a:solidFill>
                  <a:srgbClr val="262626"/>
                </a:solidFill>
                <a:latin typeface="Calibri" pitchFamily="34" charset="0"/>
                <a:ea typeface="Calibri" pitchFamily="34" charset="-122"/>
                <a:cs typeface="Calibri" pitchFamily="34" charset="-120"/>
              </a:rPr>
              <a:t>Conducted extensive research on competitor methodologies and existing risk scoring models in the industry. Collected and analyzed relevant data including historical fire incidents, property characteristics, and geographical factors.</a:t>
            </a:r>
            <a:endParaRPr lang="en-US" sz="900" dirty="0"/>
          </a:p>
          <a:p>
            <a:pPr marL="342900" indent="-342900">
              <a:lnSpc>
                <a:spcPct val="95000"/>
              </a:lnSpc>
              <a:spcAft>
                <a:spcPts val="200"/>
              </a:spcAft>
              <a:buSzPct val="100000"/>
              <a:buChar char="•"/>
            </a:pPr>
            <a:r>
              <a:rPr lang="en-US" sz="750" b="1" dirty="0">
                <a:solidFill>
                  <a:srgbClr val="262626"/>
                </a:solidFill>
                <a:latin typeface="Calibri" pitchFamily="34" charset="0"/>
                <a:ea typeface="Calibri" pitchFamily="34" charset="-122"/>
                <a:cs typeface="Calibri" pitchFamily="34" charset="-120"/>
              </a:rPr>
              <a:t>Data analysis: </a:t>
            </a:r>
            <a:pPr indent="0" marL="0">
              <a:lnSpc>
                <a:spcPct val="95000"/>
              </a:lnSpc>
              <a:spcAft>
                <a:spcPts val="200"/>
              </a:spcAft>
              <a:buNone/>
            </a:pPr>
            <a:r>
              <a:rPr lang="en-US" sz="750" dirty="0">
                <a:solidFill>
                  <a:srgbClr val="262626"/>
                </a:solidFill>
                <a:latin typeface="Calibri" pitchFamily="34" charset="0"/>
                <a:ea typeface="Calibri" pitchFamily="34" charset="-122"/>
                <a:cs typeface="Calibri" pitchFamily="34" charset="-120"/>
              </a:rPr>
              <a:t>Explored various methods and techniques to develop an accurate risk score reflective of the hazard severity. Analyzed correlation of the final score with various data attributes across segments to provide validity for the score.</a:t>
            </a:r>
            <a:endParaRPr lang="en-US" sz="900" dirty="0"/>
          </a:p>
          <a:p>
            <a:pPr marL="342900" indent="-342900">
              <a:lnSpc>
                <a:spcPct val="95000"/>
              </a:lnSpc>
              <a:spcAft>
                <a:spcPts val="200"/>
              </a:spcAft>
              <a:buSzPct val="100000"/>
              <a:buChar char="•"/>
            </a:pPr>
            <a:r>
              <a:rPr lang="en-US" sz="750" b="1" dirty="0">
                <a:solidFill>
                  <a:srgbClr val="262626"/>
                </a:solidFill>
                <a:latin typeface="Calibri" pitchFamily="34" charset="0"/>
                <a:ea typeface="Calibri" pitchFamily="34" charset="-122"/>
                <a:cs typeface="Calibri" pitchFamily="34" charset="-120"/>
              </a:rPr>
              <a:t>Model deployment: </a:t>
            </a:r>
            <a:pPr indent="0" marL="0">
              <a:lnSpc>
                <a:spcPct val="95000"/>
              </a:lnSpc>
              <a:spcAft>
                <a:spcPts val="200"/>
              </a:spcAft>
              <a:buNone/>
            </a:pPr>
            <a:r>
              <a:rPr lang="en-US" sz="750" dirty="0">
                <a:solidFill>
                  <a:srgbClr val="262626"/>
                </a:solidFill>
                <a:latin typeface="Calibri" pitchFamily="34" charset="0"/>
                <a:ea typeface="Calibri" pitchFamily="34" charset="-122"/>
                <a:cs typeface="Calibri" pitchFamily="34" charset="-120"/>
              </a:rPr>
              <a:t>The model incorporates comprehensive data analysis and competitor insights, ensuring reliable risk evaluations and can be used reliably for underwriting and pricing.</a:t>
            </a:r>
            <a:endParaRPr lang="en-US" sz="900" dirty="0"/>
          </a:p>
        </p:txBody>
      </p:sp>
      <p:sp>
        <p:nvSpPr>
          <p:cNvPr id="15" name="Text 10"/>
          <p:cNvSpPr/>
          <p:nvPr/>
        </p:nvSpPr>
        <p:spPr>
          <a:xfrm>
            <a:off x="2148840" y="3703320"/>
            <a:ext cx="9829800" cy="1143000"/>
          </a:xfrm>
          <a:prstGeom prst="rect">
            <a:avLst/>
          </a:prstGeom>
          <a:noFill/>
          <a:ln/>
        </p:spPr>
        <p:txBody>
          <a:bodyPr wrap="square" lIns="0" tIns="0" rIns="0" bIns="0" rtlCol="0" anchor="t"/>
          <a:lstStyle/>
          <a:p>
            <a:pPr indent="0" marL="0">
              <a:lnSpc>
                <a:spcPct val="95000"/>
              </a:lnSpc>
              <a:spcAft>
                <a:spcPts val="200"/>
              </a:spcAft>
              <a:buNone/>
            </a:pPr>
            <a:r>
              <a:rPr lang="en-US" sz="1100" b="1" dirty="0">
                <a:solidFill>
                  <a:srgbClr val="8C1F28"/>
                </a:solidFill>
                <a:latin typeface="Calibri" pitchFamily="34" charset="0"/>
                <a:ea typeface="Calibri" pitchFamily="34" charset="-122"/>
                <a:cs typeface="Calibri" pitchFamily="34" charset="-120"/>
              </a:rPr>
              <a:t>Citroen brand sentiment analysis</a:t>
            </a:r>
            <a:endParaRPr lang="en-US" sz="900" dirty="0"/>
          </a:p>
          <a:p>
            <a:pPr indent="0" marL="0">
              <a:lnSpc>
                <a:spcPct val="95000"/>
              </a:lnSpc>
              <a:spcAft>
                <a:spcPts val="200"/>
              </a:spcAft>
              <a:buNone/>
            </a:pPr>
            <a:r>
              <a:rPr lang="en-US" sz="800" b="1" dirty="0">
                <a:solidFill>
                  <a:srgbClr val="262626"/>
                </a:solidFill>
                <a:latin typeface="Calibri" pitchFamily="34" charset="0"/>
                <a:ea typeface="Calibri" pitchFamily="34" charset="-122"/>
                <a:cs typeface="Calibri" pitchFamily="34" charset="-120"/>
              </a:rPr>
              <a:t>Tags: EDA, Python, Binary Classification, NLP, NER, Spacy</a:t>
            </a:r>
            <a:endParaRPr lang="en-US" sz="900" dirty="0"/>
          </a:p>
          <a:p>
            <a:pPr marL="342900" indent="-342900">
              <a:lnSpc>
                <a:spcPct val="95000"/>
              </a:lnSpc>
              <a:spcAft>
                <a:spcPts val="200"/>
              </a:spcAft>
              <a:buSzPct val="100000"/>
              <a:buChar char="•"/>
            </a:pPr>
            <a:r>
              <a:rPr lang="en-US" sz="750" b="1" dirty="0">
                <a:solidFill>
                  <a:srgbClr val="262626"/>
                </a:solidFill>
                <a:latin typeface="Calibri" pitchFamily="34" charset="0"/>
                <a:ea typeface="Calibri" pitchFamily="34" charset="-122"/>
                <a:cs typeface="Calibri" pitchFamily="34" charset="-120"/>
              </a:rPr>
              <a:t>Objective: </a:t>
            </a:r>
            <a:pPr indent="0" marL="0">
              <a:lnSpc>
                <a:spcPct val="95000"/>
              </a:lnSpc>
              <a:spcAft>
                <a:spcPts val="200"/>
              </a:spcAft>
              <a:buNone/>
            </a:pPr>
            <a:r>
              <a:rPr lang="en-US" sz="750" dirty="0">
                <a:solidFill>
                  <a:srgbClr val="262626"/>
                </a:solidFill>
                <a:latin typeface="Calibri" pitchFamily="34" charset="0"/>
                <a:ea typeface="Calibri" pitchFamily="34" charset="-122"/>
                <a:cs typeface="Calibri" pitchFamily="34" charset="-120"/>
              </a:rPr>
              <a:t>To predict the sentiment of twitter users associated with a particular tweet of Citroen brand to devise better marketing strategy for the brand.</a:t>
            </a:r>
            <a:endParaRPr lang="en-US" sz="900" dirty="0"/>
          </a:p>
          <a:p>
            <a:pPr marL="342900" indent="-342900">
              <a:lnSpc>
                <a:spcPct val="95000"/>
              </a:lnSpc>
              <a:spcAft>
                <a:spcPts val="200"/>
              </a:spcAft>
              <a:buSzPct val="100000"/>
              <a:buChar char="•"/>
            </a:pPr>
            <a:r>
              <a:rPr lang="en-US" sz="750" b="1" dirty="0">
                <a:solidFill>
                  <a:srgbClr val="262626"/>
                </a:solidFill>
                <a:latin typeface="Calibri" pitchFamily="34" charset="0"/>
                <a:ea typeface="Calibri" pitchFamily="34" charset="-122"/>
                <a:cs typeface="Calibri" pitchFamily="34" charset="-120"/>
              </a:rPr>
              <a:t>Data preparation: </a:t>
            </a:r>
            <a:pPr indent="0" marL="0">
              <a:lnSpc>
                <a:spcPct val="95000"/>
              </a:lnSpc>
              <a:spcAft>
                <a:spcPts val="200"/>
              </a:spcAft>
              <a:buNone/>
            </a:pPr>
            <a:r>
              <a:rPr lang="en-US" sz="750" dirty="0">
                <a:solidFill>
                  <a:srgbClr val="262626"/>
                </a:solidFill>
                <a:latin typeface="Calibri" pitchFamily="34" charset="0"/>
                <a:ea typeface="Calibri" pitchFamily="34" charset="-122"/>
                <a:cs typeface="Calibri" pitchFamily="34" charset="-120"/>
              </a:rPr>
              <a:t>Data pipelines were developed and deployed for text mining, text normalization and text used pre-processing steps such as text cleaning, lemmatization, named entity recognition (NER), stop word removal and tokenization.</a:t>
            </a:r>
            <a:endParaRPr lang="en-US" sz="900" dirty="0"/>
          </a:p>
          <a:p>
            <a:pPr marL="342900" indent="-342900">
              <a:lnSpc>
                <a:spcPct val="95000"/>
              </a:lnSpc>
              <a:spcAft>
                <a:spcPts val="200"/>
              </a:spcAft>
              <a:buSzPct val="100000"/>
              <a:buChar char="•"/>
            </a:pPr>
            <a:r>
              <a:rPr lang="en-US" sz="750" b="1" dirty="0">
                <a:solidFill>
                  <a:srgbClr val="262626"/>
                </a:solidFill>
                <a:latin typeface="Calibri" pitchFamily="34" charset="0"/>
                <a:ea typeface="Calibri" pitchFamily="34" charset="-122"/>
                <a:cs typeface="Calibri" pitchFamily="34" charset="-120"/>
              </a:rPr>
              <a:t>Data analysis: </a:t>
            </a:r>
            <a:pPr indent="0" marL="0">
              <a:lnSpc>
                <a:spcPct val="95000"/>
              </a:lnSpc>
              <a:spcAft>
                <a:spcPts val="200"/>
              </a:spcAft>
              <a:buNone/>
            </a:pPr>
            <a:r>
              <a:rPr lang="en-US" sz="750" dirty="0">
                <a:solidFill>
                  <a:srgbClr val="262626"/>
                </a:solidFill>
                <a:latin typeface="Calibri" pitchFamily="34" charset="0"/>
                <a:ea typeface="Calibri" pitchFamily="34" charset="-122"/>
                <a:cs typeface="Calibri" pitchFamily="34" charset="-120"/>
              </a:rPr>
              <a:t>Later in text vectorization, we used TF-IDF to convert all the meaningful words into a sparse matrix. Generated optimal document words sparse matrix.</a:t>
            </a:r>
            <a:endParaRPr lang="en-US" sz="900" dirty="0"/>
          </a:p>
          <a:p>
            <a:pPr marL="342900" indent="-342900">
              <a:lnSpc>
                <a:spcPct val="95000"/>
              </a:lnSpc>
              <a:spcAft>
                <a:spcPts val="200"/>
              </a:spcAft>
              <a:buSzPct val="100000"/>
              <a:buChar char="•"/>
            </a:pPr>
            <a:r>
              <a:rPr lang="en-US" sz="750" b="1" dirty="0">
                <a:solidFill>
                  <a:srgbClr val="262626"/>
                </a:solidFill>
                <a:latin typeface="Calibri" pitchFamily="34" charset="0"/>
                <a:ea typeface="Calibri" pitchFamily="34" charset="-122"/>
                <a:cs typeface="Calibri" pitchFamily="34" charset="-120"/>
              </a:rPr>
              <a:t>Model deployment: </a:t>
            </a:r>
            <a:pPr indent="0" marL="0">
              <a:lnSpc>
                <a:spcPct val="95000"/>
              </a:lnSpc>
              <a:spcAft>
                <a:spcPts val="200"/>
              </a:spcAft>
              <a:buNone/>
            </a:pPr>
            <a:r>
              <a:rPr lang="en-US" sz="750" dirty="0">
                <a:solidFill>
                  <a:srgbClr val="262626"/>
                </a:solidFill>
                <a:latin typeface="Calibri" pitchFamily="34" charset="0"/>
                <a:ea typeface="Calibri" pitchFamily="34" charset="-122"/>
                <a:cs typeface="Calibri" pitchFamily="34" charset="-120"/>
              </a:rPr>
              <a:t>Experimented with different classification algorithms such as Random Forest and XGBoost achieving an F1 Score of greater than 0.75.</a:t>
            </a:r>
            <a:endParaRPr lang="en-US" sz="900" dirty="0"/>
          </a:p>
        </p:txBody>
      </p:sp>
      <p:sp>
        <p:nvSpPr>
          <p:cNvPr id="16" name="Text 11"/>
          <p:cNvSpPr/>
          <p:nvPr/>
        </p:nvSpPr>
        <p:spPr>
          <a:xfrm>
            <a:off x="2148840" y="4937760"/>
            <a:ext cx="9829800" cy="1325880"/>
          </a:xfrm>
          <a:prstGeom prst="rect">
            <a:avLst/>
          </a:prstGeom>
          <a:noFill/>
          <a:ln/>
        </p:spPr>
        <p:txBody>
          <a:bodyPr wrap="square" lIns="0" tIns="0" rIns="0" bIns="0" rtlCol="0" anchor="t"/>
          <a:lstStyle/>
          <a:p>
            <a:pPr indent="0" marL="0">
              <a:lnSpc>
                <a:spcPct val="95000"/>
              </a:lnSpc>
              <a:spcAft>
                <a:spcPts val="200"/>
              </a:spcAft>
              <a:buNone/>
            </a:pPr>
            <a:r>
              <a:rPr lang="en-US" sz="1100" b="1" dirty="0">
                <a:solidFill>
                  <a:srgbClr val="8C1F28"/>
                </a:solidFill>
                <a:latin typeface="Calibri" pitchFamily="34" charset="0"/>
                <a:ea typeface="Calibri" pitchFamily="34" charset="-122"/>
                <a:cs typeface="Calibri" pitchFamily="34" charset="-120"/>
              </a:rPr>
              <a:t>Health Insurance cross sale prediction</a:t>
            </a:r>
            <a:endParaRPr lang="en-US" sz="900" dirty="0"/>
          </a:p>
          <a:p>
            <a:pPr indent="0" marL="0">
              <a:lnSpc>
                <a:spcPct val="95000"/>
              </a:lnSpc>
              <a:spcAft>
                <a:spcPts val="200"/>
              </a:spcAft>
              <a:buNone/>
            </a:pPr>
            <a:r>
              <a:rPr lang="en-US" sz="800" b="1" dirty="0">
                <a:solidFill>
                  <a:srgbClr val="262626"/>
                </a:solidFill>
                <a:latin typeface="Calibri" pitchFamily="34" charset="0"/>
                <a:ea typeface="Calibri" pitchFamily="34" charset="-122"/>
                <a:cs typeface="Calibri" pitchFamily="34" charset="-120"/>
              </a:rPr>
              <a:t>Tags: EDA, Hyperparameter Tuning, SHAP, GridSearchCV, AUC-ROC, Logistic Regression, XGBoost, Random Forest, Feature Engineering</a:t>
            </a:r>
            <a:endParaRPr lang="en-US" sz="900" dirty="0"/>
          </a:p>
          <a:p>
            <a:pPr marL="342900" indent="-342900">
              <a:lnSpc>
                <a:spcPct val="95000"/>
              </a:lnSpc>
              <a:spcAft>
                <a:spcPts val="200"/>
              </a:spcAft>
              <a:buSzPct val="100000"/>
              <a:buChar char="•"/>
            </a:pPr>
            <a:r>
              <a:rPr lang="en-US" sz="750" b="1" dirty="0">
                <a:solidFill>
                  <a:srgbClr val="262626"/>
                </a:solidFill>
                <a:latin typeface="Calibri" pitchFamily="34" charset="0"/>
                <a:ea typeface="Calibri" pitchFamily="34" charset="-122"/>
                <a:cs typeface="Calibri" pitchFamily="34" charset="-120"/>
              </a:rPr>
              <a:t>Objective: </a:t>
            </a:r>
            <a:pPr indent="0" marL="0">
              <a:lnSpc>
                <a:spcPct val="95000"/>
              </a:lnSpc>
              <a:spcAft>
                <a:spcPts val="200"/>
              </a:spcAft>
              <a:buNone/>
            </a:pPr>
            <a:r>
              <a:rPr lang="en-US" sz="750" dirty="0">
                <a:solidFill>
                  <a:srgbClr val="262626"/>
                </a:solidFill>
                <a:latin typeface="Calibri" pitchFamily="34" charset="0"/>
                <a:ea typeface="Calibri" pitchFamily="34" charset="-122"/>
                <a:cs typeface="Calibri" pitchFamily="34" charset="-120"/>
              </a:rPr>
              <a:t>To prognosticate whether the policy holder from past years will additionally be intrigued with vehicle insurance provided by the company.</a:t>
            </a:r>
            <a:endParaRPr lang="en-US" sz="900" dirty="0"/>
          </a:p>
          <a:p>
            <a:pPr marL="342900" indent="-342900">
              <a:lnSpc>
                <a:spcPct val="95000"/>
              </a:lnSpc>
              <a:spcAft>
                <a:spcPts val="200"/>
              </a:spcAft>
              <a:buSzPct val="100000"/>
              <a:buChar char="•"/>
            </a:pPr>
            <a:r>
              <a:rPr lang="en-US" sz="750" b="1" dirty="0">
                <a:solidFill>
                  <a:srgbClr val="262626"/>
                </a:solidFill>
                <a:latin typeface="Calibri" pitchFamily="34" charset="0"/>
                <a:ea typeface="Calibri" pitchFamily="34" charset="-122"/>
                <a:cs typeface="Calibri" pitchFamily="34" charset="-120"/>
              </a:rPr>
              <a:t>Data preparation: </a:t>
            </a:r>
            <a:pPr indent="0" marL="0">
              <a:lnSpc>
                <a:spcPct val="95000"/>
              </a:lnSpc>
              <a:spcAft>
                <a:spcPts val="200"/>
              </a:spcAft>
              <a:buNone/>
            </a:pPr>
            <a:r>
              <a:rPr lang="en-US" sz="750" dirty="0">
                <a:solidFill>
                  <a:srgbClr val="262626"/>
                </a:solidFill>
                <a:latin typeface="Calibri" pitchFamily="34" charset="0"/>
                <a:ea typeface="Calibri" pitchFamily="34" charset="-122"/>
                <a:cs typeface="Calibri" pitchFamily="34" charset="-120"/>
              </a:rPr>
              <a:t>Merged and cleaned data from multiple sources - claim, policy, underwriting, external sources etc. to a customer level master data asset.</a:t>
            </a:r>
            <a:endParaRPr lang="en-US" sz="900" dirty="0"/>
          </a:p>
          <a:p>
            <a:pPr marL="342900" indent="-342900">
              <a:lnSpc>
                <a:spcPct val="95000"/>
              </a:lnSpc>
              <a:spcAft>
                <a:spcPts val="200"/>
              </a:spcAft>
              <a:buSzPct val="100000"/>
              <a:buChar char="•"/>
            </a:pPr>
            <a:r>
              <a:rPr lang="en-US" sz="750" b="1" dirty="0">
                <a:solidFill>
                  <a:srgbClr val="262626"/>
                </a:solidFill>
                <a:latin typeface="Calibri" pitchFamily="34" charset="0"/>
                <a:ea typeface="Calibri" pitchFamily="34" charset="-122"/>
                <a:cs typeface="Calibri" pitchFamily="34" charset="-120"/>
              </a:rPr>
              <a:t>Data analysis: </a:t>
            </a:r>
            <a:pPr indent="0" marL="0">
              <a:lnSpc>
                <a:spcPct val="95000"/>
              </a:lnSpc>
              <a:spcAft>
                <a:spcPts val="200"/>
              </a:spcAft>
              <a:buNone/>
            </a:pPr>
            <a:r>
              <a:rPr lang="en-US" sz="750" dirty="0">
                <a:solidFill>
                  <a:srgbClr val="262626"/>
                </a:solidFill>
                <a:latin typeface="Calibri" pitchFamily="34" charset="0"/>
                <a:ea typeface="Calibri" pitchFamily="34" charset="-122"/>
                <a:cs typeface="Calibri" pitchFamily="34" charset="-120"/>
              </a:rPr>
              <a:t>Dataset was imbalanced with 85-15 ratio for the target. So, we used SMOTE to handle class imbalance. Reduced the feature set to 30 for a robust model.</a:t>
            </a:r>
            <a:endParaRPr lang="en-US" sz="900" dirty="0"/>
          </a:p>
          <a:p>
            <a:pPr marL="342900" indent="-342900">
              <a:lnSpc>
                <a:spcPct val="95000"/>
              </a:lnSpc>
              <a:spcAft>
                <a:spcPts val="200"/>
              </a:spcAft>
              <a:buSzPct val="100000"/>
              <a:buChar char="•"/>
            </a:pPr>
            <a:r>
              <a:rPr lang="en-US" sz="750" b="1" dirty="0">
                <a:solidFill>
                  <a:srgbClr val="262626"/>
                </a:solidFill>
                <a:latin typeface="Calibri" pitchFamily="34" charset="0"/>
                <a:ea typeface="Calibri" pitchFamily="34" charset="-122"/>
                <a:cs typeface="Calibri" pitchFamily="34" charset="-120"/>
              </a:rPr>
              <a:t>Predictive modelling: </a:t>
            </a:r>
            <a:pPr indent="0" marL="0">
              <a:lnSpc>
                <a:spcPct val="95000"/>
              </a:lnSpc>
              <a:spcAft>
                <a:spcPts val="200"/>
              </a:spcAft>
              <a:buNone/>
            </a:pPr>
            <a:r>
              <a:rPr lang="en-US" sz="750" dirty="0">
                <a:solidFill>
                  <a:srgbClr val="262626"/>
                </a:solidFill>
                <a:latin typeface="Calibri" pitchFamily="34" charset="0"/>
                <a:ea typeface="Calibri" pitchFamily="34" charset="-122"/>
                <a:cs typeface="Calibri" pitchFamily="34" charset="-120"/>
              </a:rPr>
              <a:t>Developed binary classification model using algorithms such as logistic regression, random forest and XGBoost and carried out hyperparameter tuning using GridSearchCV optimization, achieving a recall of 72% for the final model (XGBoost).</a:t>
            </a:r>
            <a:endParaRPr lang="en-US" sz="900" dirty="0"/>
          </a:p>
        </p:txBody>
      </p:sp>
      <p:sp>
        <p:nvSpPr>
          <p:cNvPr id="17" name="Shape 12"/>
          <p:cNvSpPr/>
          <p:nvPr/>
        </p:nvSpPr>
        <p:spPr>
          <a:xfrm>
            <a:off x="1920240" y="6355080"/>
            <a:ext cx="10268712" cy="502920"/>
          </a:xfrm>
          <a:prstGeom prst="rect">
            <a:avLst/>
          </a:prstGeom>
          <a:solidFill>
            <a:srgbClr val="F2F2F2"/>
          </a:solidFill>
          <a:ln/>
        </p:spPr>
      </p:sp>
      <p:sp>
        <p:nvSpPr>
          <p:cNvPr id="18" name="Text 13"/>
          <p:cNvSpPr/>
          <p:nvPr/>
        </p:nvSpPr>
        <p:spPr>
          <a:xfrm>
            <a:off x="2103120" y="6382512"/>
            <a:ext cx="9875520" cy="457200"/>
          </a:xfrm>
          <a:prstGeom prst="rect">
            <a:avLst/>
          </a:prstGeom>
          <a:noFill/>
          <a:ln/>
        </p:spPr>
        <p:txBody>
          <a:bodyPr wrap="square" lIns="0" tIns="0" rIns="0" bIns="0" rtlCol="0" anchor="ctr"/>
          <a:lstStyle/>
          <a:p>
            <a:pPr indent="0" marL="0">
              <a:buNone/>
            </a:pPr>
            <a:r>
              <a:rPr lang="en-US" sz="1000" b="1" dirty="0">
                <a:solidFill>
                  <a:srgbClr val="262626"/>
                </a:solidFill>
                <a:latin typeface="Calibri" pitchFamily="34" charset="0"/>
                <a:ea typeface="Calibri" pitchFamily="34" charset="-122"/>
                <a:cs typeface="Calibri" pitchFamily="34" charset="-120"/>
              </a:rPr>
              <a:t>Key Skills and Tools: </a:t>
            </a:r>
            <a:endParaRPr lang="en-US" sz="1000" dirty="0"/>
          </a:p>
          <a:p>
            <a:pPr indent="0" marL="0">
              <a:buNone/>
            </a:pPr>
            <a:r>
              <a:rPr lang="en-US" sz="950" dirty="0">
                <a:solidFill>
                  <a:srgbClr val="262626"/>
                </a:solidFill>
                <a:latin typeface="Calibri" pitchFamily="34" charset="0"/>
                <a:ea typeface="Calibri" pitchFamily="34" charset="-122"/>
                <a:cs typeface="Calibri" pitchFamily="34" charset="-120"/>
              </a:rPr>
              <a:t>Python, SQL, Snowflake, Scikit-learn, Pandas, NumPy, Matplotlib, Seaborn, NLTK, SHAP, Spacy, Machine Learning, Data Analysis.   </a:t>
            </a:r>
            <a:pPr indent="0" marL="0">
              <a:buNone/>
            </a:pPr>
            <a:r>
              <a:rPr lang="en-US" sz="1000" b="1" dirty="0">
                <a:solidFill>
                  <a:srgbClr val="262626"/>
                </a:solidFill>
                <a:latin typeface="Calibri" pitchFamily="34" charset="0"/>
                <a:ea typeface="Calibri" pitchFamily="34" charset="-122"/>
                <a:cs typeface="Calibri" pitchFamily="34" charset="-120"/>
              </a:rPr>
              <a:t>Education: </a:t>
            </a:r>
            <a:pPr indent="0" marL="0">
              <a:buNone/>
            </a:pPr>
            <a:r>
              <a:rPr lang="en-US" sz="950" dirty="0">
                <a:solidFill>
                  <a:srgbClr val="262626"/>
                </a:solidFill>
                <a:latin typeface="Calibri" pitchFamily="34" charset="0"/>
                <a:ea typeface="Calibri" pitchFamily="34" charset="-122"/>
                <a:cs typeface="Calibri" pitchFamily="34" charset="-120"/>
              </a:rPr>
              <a:t>(B.E) PESIT Bangalore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Mayank Kumar - Resume</dc:title>
  <dc:subject>PptxGenJS Presentation</dc:subject>
  <dc:creator>Mayank Kumar</dc:creator>
  <cp:lastModifiedBy>Mayank Kumar</cp:lastModifiedBy>
  <cp:revision>1</cp:revision>
  <dcterms:created xsi:type="dcterms:W3CDTF">2026-06-30T04:55:23Z</dcterms:created>
  <dcterms:modified xsi:type="dcterms:W3CDTF">2026-06-30T04:55:23Z</dcterms:modified>
</cp:coreProperties>
</file>